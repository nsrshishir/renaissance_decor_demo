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Lato"/>
      <p:regular r:id="rId18"/>
      <p:bold r:id="rId19"/>
      <p:italic r:id="rId20"/>
      <p:boldItalic r:id="rId21"/>
    </p:embeddedFont>
    <p:embeddedFont>
      <p:font typeface="Urbanist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22" Type="http://schemas.openxmlformats.org/officeDocument/2006/relationships/font" Target="fonts/Urbanist-regular.fntdata"/><Relationship Id="rId21" Type="http://schemas.openxmlformats.org/officeDocument/2006/relationships/font" Target="fonts/Lato-boldItalic.fntdata"/><Relationship Id="rId24" Type="http://schemas.openxmlformats.org/officeDocument/2006/relationships/font" Target="fonts/Urbanist-italic.fntdata"/><Relationship Id="rId23" Type="http://schemas.openxmlformats.org/officeDocument/2006/relationships/font" Target="fonts/Urbanis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Urbanis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Lato-bold.fntdata"/><Relationship Id="rId18" Type="http://schemas.openxmlformats.org/officeDocument/2006/relationships/font" Target="fonts/La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2.png"/><Relationship Id="rId8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9" Type="http://schemas.openxmlformats.org/officeDocument/2006/relationships/image" Target="../media/image21.png"/><Relationship Id="rId5" Type="http://schemas.openxmlformats.org/officeDocument/2006/relationships/image" Target="../media/image16.png"/><Relationship Id="rId6" Type="http://schemas.openxmlformats.org/officeDocument/2006/relationships/image" Target="../media/image14.png"/><Relationship Id="rId7" Type="http://schemas.openxmlformats.org/officeDocument/2006/relationships/image" Target="../media/image17.png"/><Relationship Id="rId8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12.png"/><Relationship Id="rId6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19.png"/><Relationship Id="rId6" Type="http://schemas.openxmlformats.org/officeDocument/2006/relationships/image" Target="../media/image18.png"/><Relationship Id="rId7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595437" y="2179290"/>
            <a:ext cx="9001125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Strategic Value of </a:t>
            </a:r>
            <a:r>
              <a:rPr b="1" i="0" lang="en-US" sz="60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Odoo ERP</a:t>
            </a:r>
            <a:r>
              <a:rPr b="1" i="0" lang="en-US" sz="60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for RDL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809750" y="4219423"/>
            <a:ext cx="8572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Driving Operational Excellence &amp; Future-Proof Scalability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290625"/>
            <a:ext cx="5238750" cy="2138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290625"/>
            <a:ext cx="5238750" cy="2138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9379" y="3770913"/>
            <a:ext cx="5220871" cy="27813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962025" y="2022795"/>
            <a:ext cx="468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Unified Operations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962025" y="2537145"/>
            <a:ext cx="4457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Consolidating diverse workflows into a single, real-time source of truth.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772275" y="1938337"/>
            <a:ext cx="468058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Future Scalability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772275" y="2452687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Designed for RDL’s 10-year vision across multiple business divisions.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62025" y="4581689"/>
            <a:ext cx="468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Global Reliability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62025" y="5180497"/>
            <a:ext cx="4457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Leveraging world-class AI and open-source flexibility for RDL.</a:t>
            </a:r>
            <a:endParaRPr/>
          </a:p>
        </p:txBody>
      </p:sp>
      <p:pic>
        <p:nvPicPr>
          <p:cNvPr descr="image.png" id="101" name="Google Shape;10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5104" y="1479062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72275" y="145955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2025" y="401844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571500" y="368637"/>
            <a:ext cx="11601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The Pillars of </a:t>
            </a:r>
            <a:r>
              <a:rPr b="1" i="0" lang="en-US" sz="40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Digital Transformation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9" name="Google Shape;10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/>
          <p:nvPr/>
        </p:nvSpPr>
        <p:spPr>
          <a:xfrm>
            <a:off x="5624375" y="2401862"/>
            <a:ext cx="7620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645318" y="2831463"/>
            <a:ext cx="1090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Pillar 1: </a:t>
            </a:r>
            <a:r>
              <a:rPr b="1" i="0" lang="en-US" sz="4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Unified</a:t>
            </a:r>
            <a:r>
              <a:rPr b="1" i="0" lang="en-US" sz="48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Operational Excellence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6" name="Google Shape;11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86012"/>
            <a:ext cx="3492549" cy="3086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386012"/>
            <a:ext cx="3492549" cy="3086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386012"/>
            <a:ext cx="3492549" cy="308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962025" y="3462337"/>
            <a:ext cx="284707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Inventory Precision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962025" y="3976687"/>
            <a:ext cx="27114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Real-time, product-movement tracking across all warehouses and stores.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4740324" y="3462337"/>
            <a:ext cx="284707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Financial Clarity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4740324" y="3976687"/>
            <a:ext cx="27114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Fully consolidated accounting reports updated with every single click.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8518624" y="3462337"/>
            <a:ext cx="284707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Automated Efficiency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8518624" y="3976687"/>
            <a:ext cx="27114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One-click data entry updates all related fields, eliminating redundancy.</a:t>
            </a:r>
            <a:endParaRPr/>
          </a:p>
        </p:txBody>
      </p:sp>
      <p:pic>
        <p:nvPicPr>
          <p:cNvPr descr="image.png" id="126" name="Google Shape;126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2025" y="2814637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40324" y="2814637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18624" y="2814637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End-to-End </a:t>
            </a:r>
            <a:r>
              <a:rPr b="1" i="0" lang="en-US" sz="40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Visibility</a:t>
            </a:r>
            <a:r>
              <a:rPr b="1" i="0" lang="en-US" sz="40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&amp; Control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4" name="Google Shape;13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2406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 txBox="1"/>
          <p:nvPr/>
        </p:nvSpPr>
        <p:spPr>
          <a:xfrm>
            <a:off x="571500" y="2261592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Odoo's intuitive interface ensures that your team adapts quickly with minimal friction.</a:t>
            </a:r>
            <a:endParaRPr/>
          </a:p>
        </p:txBody>
      </p:sp>
      <p:pic>
        <p:nvPicPr>
          <p:cNvPr descr="image.png" id="137" name="Google Shape;13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033587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/>
        </p:nvSpPr>
        <p:spPr>
          <a:xfrm>
            <a:off x="1000125" y="3061692"/>
            <a:ext cx="48101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User-Friendly:</a:t>
            </a:r>
            <a:r>
              <a:rPr b="0" i="0" lang="en-US" sz="1650" u="none" cap="none" strike="noStrik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 Designed for modern, fast-paced teams.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1000125" y="3970139"/>
            <a:ext cx="48101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SOP Harmony:</a:t>
            </a:r>
            <a:r>
              <a:rPr b="0" i="0" lang="en-US" sz="1650" u="none" cap="none" strike="noStrik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 Odoo standardizes operations to match RDL’s specific business logic.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1000125" y="4878585"/>
            <a:ext cx="48101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Reduced Training:</a:t>
            </a:r>
            <a:r>
              <a:rPr b="0" i="0" lang="en-US" sz="1650" u="none" cap="none" strike="noStrik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 Faster time-to-value for new employees.</a:t>
            </a:r>
            <a:endParaRPr/>
          </a:p>
        </p:txBody>
      </p:sp>
      <p:pic>
        <p:nvPicPr>
          <p:cNvPr descr="image.png" id="141" name="Google Shape;14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09979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008239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916685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Seamless Adoption &amp; </a:t>
            </a:r>
            <a:r>
              <a:rPr b="1" i="0" lang="en-US" sz="40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SOP Alignment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9" name="Google Shape;14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/>
          <p:nvPr/>
        </p:nvSpPr>
        <p:spPr>
          <a:xfrm>
            <a:off x="5715000" y="2129962"/>
            <a:ext cx="7620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>
            <a:off x="1660961" y="2695587"/>
            <a:ext cx="9021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Pillar 2: </a:t>
            </a:r>
            <a:r>
              <a:rPr b="1" i="0" lang="en-US" sz="4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Future-Proof</a:t>
            </a:r>
            <a:r>
              <a:rPr b="1" i="0" lang="en-US" sz="48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Scalability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6" name="Google Shape;15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43162"/>
            <a:ext cx="5238750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443162"/>
            <a:ext cx="5238750" cy="20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9"/>
          <p:cNvSpPr txBox="1"/>
          <p:nvPr/>
        </p:nvSpPr>
        <p:spPr>
          <a:xfrm>
            <a:off x="571500" y="4919662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Lato"/>
                <a:ea typeface="Lato"/>
                <a:cs typeface="Lato"/>
                <a:sym typeface="Lato"/>
              </a:rPr>
              <a:t>Unified Management under One System — Limitless Growth for the Next 10 Years.</a:t>
            </a:r>
            <a:endParaRPr/>
          </a:p>
        </p:txBody>
      </p:sp>
      <p:sp>
        <p:nvSpPr>
          <p:cNvPr id="160" name="Google Shape;160;p19"/>
          <p:cNvSpPr txBox="1"/>
          <p:nvPr/>
        </p:nvSpPr>
        <p:spPr>
          <a:xfrm>
            <a:off x="962025" y="2833687"/>
            <a:ext cx="468058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RDL Apparel</a:t>
            </a:r>
            <a:endParaRPr/>
          </a:p>
        </p:txBody>
      </p:sp>
      <p:sp>
        <p:nvSpPr>
          <p:cNvPr id="161" name="Google Shape;161;p19"/>
          <p:cNvSpPr txBox="1"/>
          <p:nvPr/>
        </p:nvSpPr>
        <p:spPr>
          <a:xfrm>
            <a:off x="962025" y="3348037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Advanced SKU management, seasonal trend tracking, and multi-store retail sync.</a:t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6772275" y="2833687"/>
            <a:ext cx="468058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RDL Home Decor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6772275" y="3348037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Specialized inventory handling for unique items and high-value logistics.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Managing </a:t>
            </a:r>
            <a:r>
              <a:rPr b="1" i="0" lang="en-US" sz="40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Diverse Portfolios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9" name="Google Shape;16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71625"/>
            <a:ext cx="11049000" cy="471487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0"/>
          <p:cNvSpPr txBox="1"/>
          <p:nvPr/>
        </p:nvSpPr>
        <p:spPr>
          <a:xfrm>
            <a:off x="571500" y="4586287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Odoo eliminates the heavy costs of legacy systems while bypassing the limitations of local software.</a:t>
            </a:r>
            <a:endParaRPr/>
          </a:p>
        </p:txBody>
      </p:sp>
      <p:sp>
        <p:nvSpPr>
          <p:cNvPr id="172" name="Google Shape;172;p20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World-Class </a:t>
            </a:r>
            <a:r>
              <a:rPr b="1" i="0" lang="en-US" sz="40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Reliability</a:t>
            </a:r>
            <a:r>
              <a:rPr b="1" i="0" lang="en-US" sz="40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Comparison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7" name="Google Shape;17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1"/>
          <p:cNvSpPr txBox="1"/>
          <p:nvPr/>
        </p:nvSpPr>
        <p:spPr>
          <a:xfrm>
            <a:off x="571500" y="3167062"/>
            <a:ext cx="1514475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AI</a:t>
            </a:r>
            <a:endParaRPr/>
          </a:p>
        </p:txBody>
      </p:sp>
      <p:sp>
        <p:nvSpPr>
          <p:cNvPr id="179" name="Google Shape;179;p21"/>
          <p:cNvSpPr txBox="1"/>
          <p:nvPr/>
        </p:nvSpPr>
        <p:spPr>
          <a:xfrm>
            <a:off x="2847975" y="2943225"/>
            <a:ext cx="9211151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Next-Generation Management</a:t>
            </a:r>
            <a:endParaRPr/>
          </a:p>
        </p:txBody>
      </p:sp>
      <p:sp>
        <p:nvSpPr>
          <p:cNvPr id="180" name="Google Shape;180;p21"/>
          <p:cNvSpPr txBox="1"/>
          <p:nvPr/>
        </p:nvSpPr>
        <p:spPr>
          <a:xfrm>
            <a:off x="2847975" y="3619500"/>
            <a:ext cx="87725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Odoo is equipped with integrated AI to optimize business strategies and predict market trends.</a:t>
            </a:r>
            <a:endParaRPr/>
          </a:p>
        </p:txBody>
      </p:sp>
      <p:sp>
        <p:nvSpPr>
          <p:cNvPr id="181" name="Google Shape;181;p21"/>
          <p:cNvSpPr txBox="1"/>
          <p:nvPr/>
        </p:nvSpPr>
        <p:spPr>
          <a:xfrm>
            <a:off x="2847975" y="4114800"/>
            <a:ext cx="87725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Proactive Security: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 Continuous monitoring directly from Odoo HQ ensures 99.9% uptime and flawless performance.</a:t>
            </a:r>
            <a:endParaRPr/>
          </a:p>
        </p:txBody>
      </p:sp>
      <p:sp>
        <p:nvSpPr>
          <p:cNvPr id="182" name="Google Shape;182;p21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The </a:t>
            </a:r>
            <a:r>
              <a:rPr b="1" i="0" lang="en-US" sz="40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Global Edge</a:t>
            </a:r>
            <a:r>
              <a:rPr b="1" i="0" lang="en-US" sz="40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with AI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7" name="Google Shape;18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2"/>
          <p:cNvSpPr txBox="1"/>
          <p:nvPr/>
        </p:nvSpPr>
        <p:spPr>
          <a:xfrm>
            <a:off x="1000125" y="2782490"/>
            <a:ext cx="10620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Odoo-Partner Monitoring:</a:t>
            </a:r>
            <a:r>
              <a:rPr b="0" i="0" lang="en-US" sz="1650" u="none" cap="none" strike="noStrik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 Odoo HQ continuously monitors our project progress to ensure standards.</a:t>
            </a:r>
            <a:endParaRPr/>
          </a:p>
        </p:txBody>
      </p:sp>
      <p:sp>
        <p:nvSpPr>
          <p:cNvPr id="189" name="Google Shape;189;p22"/>
          <p:cNvSpPr txBox="1"/>
          <p:nvPr/>
        </p:nvSpPr>
        <p:spPr>
          <a:xfrm>
            <a:off x="1000125" y="3355776"/>
            <a:ext cx="10620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Checks &amp; Balances:</a:t>
            </a:r>
            <a:r>
              <a:rPr b="0" i="0" lang="en-US" sz="1650" u="none" cap="none" strike="noStrik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 If any implementation errors occur, Odoo intervenes for management.</a:t>
            </a:r>
            <a:endParaRPr/>
          </a:p>
        </p:txBody>
      </p:sp>
      <p:sp>
        <p:nvSpPr>
          <p:cNvPr id="190" name="Google Shape;190;p22"/>
          <p:cNvSpPr txBox="1"/>
          <p:nvPr/>
        </p:nvSpPr>
        <p:spPr>
          <a:xfrm>
            <a:off x="1000125" y="3929062"/>
            <a:ext cx="10620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Direct Feedback Loop:</a:t>
            </a:r>
            <a:r>
              <a:rPr b="0" i="0" lang="en-US" sz="1650" u="none" cap="none" strike="noStrik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 RDL can report any experience concerns directly to Odoo HQ.</a:t>
            </a:r>
            <a:endParaRPr/>
          </a:p>
        </p:txBody>
      </p:sp>
      <p:sp>
        <p:nvSpPr>
          <p:cNvPr id="191" name="Google Shape;191;p22"/>
          <p:cNvSpPr txBox="1"/>
          <p:nvPr/>
        </p:nvSpPr>
        <p:spPr>
          <a:xfrm>
            <a:off x="1000125" y="4502348"/>
            <a:ext cx="10620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Security of Investment:</a:t>
            </a:r>
            <a:r>
              <a:rPr b="0" i="0" lang="en-US" sz="1650" u="none" cap="none" strike="noStrik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 Your digital transformation is protected by the global Odoo ecosystem.</a:t>
            </a:r>
            <a:endParaRPr/>
          </a:p>
        </p:txBody>
      </p:sp>
      <p:pic>
        <p:nvPicPr>
          <p:cNvPr descr="image.png" id="192" name="Google Shape;19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2059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393876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967162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540448"/>
            <a:ext cx="2857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2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Built-in </a:t>
            </a:r>
            <a:r>
              <a:rPr b="1" i="0" lang="en-US" sz="40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Accountability</a:t>
            </a:r>
            <a:r>
              <a:rPr b="1" i="0" lang="en-US" sz="40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&amp; Oversight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1" name="Google Shape;20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3"/>
          <p:cNvSpPr txBox="1"/>
          <p:nvPr/>
        </p:nvSpPr>
        <p:spPr>
          <a:xfrm>
            <a:off x="571500" y="762000"/>
            <a:ext cx="5200650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The </a:t>
            </a:r>
            <a:r>
              <a:rPr b="1" i="0" lang="en-US" sz="40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Implementation</a:t>
            </a:r>
            <a:r>
              <a:rPr b="1" i="0" lang="en-US" sz="40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Advantage</a:t>
            </a:r>
            <a:endParaRPr/>
          </a:p>
        </p:txBody>
      </p:sp>
      <p:pic>
        <p:nvPicPr>
          <p:cNvPr descr="image.png" id="203" name="Google Shape;20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3"/>
          <p:cNvSpPr txBox="1"/>
          <p:nvPr/>
        </p:nvSpPr>
        <p:spPr>
          <a:xfrm>
            <a:off x="571500" y="2381250"/>
            <a:ext cx="52006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Bangladesh’s 1st Odoo Partner</a:t>
            </a:r>
            <a:endParaRPr/>
          </a:p>
        </p:txBody>
      </p:sp>
      <p:sp>
        <p:nvSpPr>
          <p:cNvPr id="205" name="Google Shape;205;p23"/>
          <p:cNvSpPr txBox="1"/>
          <p:nvPr/>
        </p:nvSpPr>
        <p:spPr>
          <a:xfrm>
            <a:off x="571500" y="279082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Exclusively dedicated to providing highly specialized Odoo solutions with deep local and global insight.</a:t>
            </a:r>
            <a:endParaRPr/>
          </a:p>
        </p:txBody>
      </p:sp>
      <p:sp>
        <p:nvSpPr>
          <p:cNvPr id="206" name="Google Shape;206;p23"/>
          <p:cNvSpPr txBox="1"/>
          <p:nvPr/>
        </p:nvSpPr>
        <p:spPr>
          <a:xfrm>
            <a:off x="571500" y="3667125"/>
            <a:ext cx="4953000" cy="853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5F5F5"/>
                </a:solidFill>
                <a:latin typeface="Lato"/>
                <a:ea typeface="Lato"/>
                <a:cs typeface="Lato"/>
                <a:sym typeface="Lato"/>
              </a:rPr>
              <a:t>"We don't just sell software; we sell our experience."</a:t>
            </a:r>
            <a:endParaRPr/>
          </a:p>
        </p:txBody>
      </p:sp>
      <p:sp>
        <p:nvSpPr>
          <p:cNvPr id="207" name="Google Shape;207;p23"/>
          <p:cNvSpPr txBox="1"/>
          <p:nvPr/>
        </p:nvSpPr>
        <p:spPr>
          <a:xfrm>
            <a:off x="571500" y="478720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Software is a commodity; the best implementation experience is what defines your success.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2" name="Google Shape;21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4"/>
          <p:cNvSpPr txBox="1"/>
          <p:nvPr/>
        </p:nvSpPr>
        <p:spPr>
          <a:xfrm>
            <a:off x="2225516" y="2376487"/>
            <a:ext cx="7740967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Ready for </a:t>
            </a:r>
            <a:r>
              <a:rPr b="1" i="0" lang="en-US" sz="4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Transformation?</a:t>
            </a:r>
            <a:endParaRPr/>
          </a:p>
        </p:txBody>
      </p:sp>
      <p:sp>
        <p:nvSpPr>
          <p:cNvPr id="214" name="Google Shape;214;p24"/>
          <p:cNvSpPr txBox="1"/>
          <p:nvPr/>
        </p:nvSpPr>
        <p:spPr>
          <a:xfrm>
            <a:off x="2409825" y="3300412"/>
            <a:ext cx="73723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Let’s drive RDL into the next decade of digital excellence.</a:t>
            </a:r>
            <a:endParaRPr/>
          </a:p>
        </p:txBody>
      </p:sp>
      <p:sp>
        <p:nvSpPr>
          <p:cNvPr id="215" name="Google Shape;215;p24"/>
          <p:cNvSpPr txBox="1"/>
          <p:nvPr/>
        </p:nvSpPr>
        <p:spPr>
          <a:xfrm>
            <a:off x="2409825" y="3986212"/>
            <a:ext cx="7372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</a:t>
            </a:r>
            <a:r>
              <a:rPr b="0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etamorphosis </a:t>
            </a:r>
            <a:r>
              <a:rPr lang="en-US" sz="15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l</a:t>
            </a:r>
            <a:r>
              <a:rPr b="0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td. | Your Strategic Odoo Partner</a:t>
            </a:r>
            <a:endParaRPr/>
          </a:p>
        </p:txBody>
      </p:sp>
      <p:sp>
        <p:nvSpPr>
          <p:cNvPr id="216" name="Google Shape;216;p24"/>
          <p:cNvSpPr txBox="1"/>
          <p:nvPr/>
        </p:nvSpPr>
        <p:spPr>
          <a:xfrm>
            <a:off x="2427092" y="4493336"/>
            <a:ext cx="7372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www.metamorphosis.com.bd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